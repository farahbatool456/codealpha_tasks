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0B6E4F">
              <a:alpha val="50000"/>
            </a:srgbClr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01168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DOSAGE FORMS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Formulation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· Excipients · Stability · Challenges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Form Selected: Compressed Tablet (Immediate Release)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Sciences | Formulation &amp;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TABLET: OVERVIEW &amp; TYPES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tablet is a solid unit dosage form produced by compressing a drug with excipients. It is the most widely used oral dosage form due to accuracy, stability, and ease of manufacture.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01168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783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(IR)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released rapidly post-ingestion. Most common.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737360"/>
            <a:ext cx="201168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783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(ER)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drug release over hours. Reduces dosing frequency.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737360"/>
            <a:ext cx="2011680" cy="1828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783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Chewable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texture, flavored. For pediatrics &amp; antacids.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737360"/>
            <a:ext cx="2011680" cy="18288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783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Disintegrates in water before administration.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5537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presentation: Immediate Release Compressed Tablet — the reference standard for formulation science.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FORMULATION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97280"/>
            <a:ext cx="13533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9728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" y="1627632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2423160"/>
            <a:ext cx="135331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solubility, particle size, polymorphism, hygroscopicity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2560320"/>
            <a:ext cx="91440" cy="457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09728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0" y="1097280"/>
            <a:ext cx="13533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09728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1627632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Pre-formulation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423160"/>
            <a:ext cx="135331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Excipient compatibility, drug stability, physicochemical profiling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99232" y="2560320"/>
            <a:ext cx="91440" cy="457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09728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90672" y="1097280"/>
            <a:ext cx="13533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109728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90672" y="1627632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0672" y="2423160"/>
            <a:ext cx="135331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/ Dry / Direct compression. Improves flow &amp; compressibility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43984" y="2560320"/>
            <a:ext cx="91440" cy="457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35424" y="109728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35424" y="1097280"/>
            <a:ext cx="13533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109728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35424" y="1627632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35424" y="2423160"/>
            <a:ext cx="135331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tablet press. Control hardness, weight, friability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88736" y="2560320"/>
            <a:ext cx="91440" cy="457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0176" y="109728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0176" y="1097280"/>
            <a:ext cx="13533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109728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80176" y="1627632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0176" y="2423160"/>
            <a:ext cx="135331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coat for protection, taste masking, or aesthetics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33488" y="2560320"/>
            <a:ext cx="91440" cy="457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24928" y="109728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24928" y="1097280"/>
            <a:ext cx="13533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09728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24928" y="1627632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24928" y="2423160"/>
            <a:ext cx="135331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Dissolution, hardness, disintegration, friability testing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requires rigorous process validation before scale-up to commercial manufacturing.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EXCIPIENTS USED IN TABLET FORMULATION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Excipients are inactive ingredients that aid manufacturing, stability, and drug release.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52044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65176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Excipient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% w/w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Diluent / 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bulk to low-dose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Lactose, MCC (Avicel), Mannitol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granules together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PVP (Kollidon), HPMC, Starch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Disintegrant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Promotes tablet breakup in GI 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Croscarmellose Na, SSG, Starch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sticking to punch/die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Magnesium Stearate, Stearic Acid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–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Glidant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powder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Colloidal SiO₂ (Aerosil), Talc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Coating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coat: protection / appearance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HPMC, Opadry, Eudragit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5% weight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Microcrystalline Cellulose · PVP = Polyvinylpyrrolidone · SSG = Sodium Starch Glycolate · HPMC = Hydroxypropyl Methylcellulose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FACTORS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14800" cy="713232"/>
          </a:xfrm>
          <a:prstGeom prst="rect">
            <a:avLst/>
          </a:prstGeom>
          <a:solidFill>
            <a:srgbClr val="CCEDE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54480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/ Humidity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softening, sticking, disintegration failure. Control with desiccants.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4114800" cy="713232"/>
          </a:xfrm>
          <a:prstGeom prst="rect">
            <a:avLst/>
          </a:prstGeom>
          <a:solidFill>
            <a:srgbClr val="CCEDE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9152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95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temp accelerates polymorphic transitions and melting of lubricants.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4114800" cy="713232"/>
          </a:xfrm>
          <a:prstGeom prst="rect">
            <a:avLst/>
          </a:prstGeom>
          <a:solidFill>
            <a:srgbClr val="CCEDE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163824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Photodegradation of light-sensitive APIs (e.g., nifedipine). Use amber packaging.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4114800" cy="713232"/>
          </a:xfrm>
          <a:prstGeom prst="rect">
            <a:avLst/>
          </a:prstGeom>
          <a:solidFill>
            <a:srgbClr val="CCEDE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968496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Stress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79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hardness → friability, capping, lamination during transport.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STABILITY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41148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55448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91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865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cleaves ester/amide bonds in API. Moisture control is critical.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59152"/>
            <a:ext cx="41148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359152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395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670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Free-radical degradation. Use antioxidants (BHA, BHT) or nitrogen purge.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63824"/>
            <a:ext cx="41148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63824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200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Drug-Excipient Interaction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Maillard reaction: amine APIs + lactose → colored products.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68496"/>
            <a:ext cx="41148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968496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Degradation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4279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+ organic excipients → microbial growth. Control Aw &lt; 0.6.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Q1A stability guidelines require accelerated (40°C/75% RH) and long-term (25°C/60% RH) testing for all solid dosage forms.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FORMULATION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5029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1097280"/>
            <a:ext cx="48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Solubility (BCS Class II &amp; IV)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~40% of new APIs have low aqueous solubility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1109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Solutions: Solid dispersions, nanosizing, cyclodextrins, lipid-based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Challenge affects both dissolution rate and bioavailability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051560"/>
            <a:ext cx="5029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097280"/>
            <a:ext cx="48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85232" y="111556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Flowability &amp; Compressibility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53619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 API particles have poor flow → weight variation in tablets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85232" y="191109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Solutions: Wet granulation, slugging (dry granulation), spray drying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85232" y="22860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compression preferred but needs good flow excipients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71800"/>
            <a:ext cx="50292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3017520"/>
            <a:ext cx="48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303580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Uniformity for Low-Dose Drugs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45643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&lt; 5% of tablet weight is critical — blend uniformity essential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83133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 of dose dumping or sub-therapeutic levels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Solutions: Geometric dilution, high-shear mixing, ordered mixing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2971800"/>
            <a:ext cx="502920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017520"/>
            <a:ext cx="484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85232" y="303580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from Lab to Commercial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345643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Process parameters change non-linearly on scale-up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85232" y="383133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Granule properties, compaction force, coating uniformity all shift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85232" y="42062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Risk: dissolution profile changes even with same formulation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TESTS FOR TABLETS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CONTROLS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44752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4–10 kPa (depends on tablet size)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 hardness tester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±0.1 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Micrometer / online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Variation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±5% of average weight (USP)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 weight loss after 100 rotations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 friabilator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PRODUCT TESTS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44752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 (IR tablets)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Disintegration tester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in 30 min (Q30)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 Apparatus I or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Uniformity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85–115% of label 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HPLC / UV assay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98.0–102.0% of declared 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Note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tablet QC methods must be validated per ICH Q2(R1). Stability studies follow ICH Q1A(R2). Dissolution specifications are set based on bioequivalence data and pharmacopeial requirements (USP/BP/Ph.Eur).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6E4F">
              <a:alpha val="30000"/>
            </a:srgbClr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Formulation: Summary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6479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is multi-step —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 characterization → granulation → compression → coating → QC, each step is interdependent.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Excipients are not inert —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3347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directly impact solubility, stability, release rate, and manufacturability. Selection is science-driven.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4495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97180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= ICH compliance —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27355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chemical stability must be evaluated under real-time and accelerated conditions per ICH Q1A.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8503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85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61188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are API-specific —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91363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solubility, flow, and content uniformity are the top 3 barriers — each requiring a tailored approach.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425196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needs validation —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55371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Lab-to-commercial transition is high-risk. Process analytical technology (PAT) helps bridge the gap.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Tablet Formulation - Pharmaceutical Science</dc:title>
  <dc:subject>PptxGenJS Presentation</dc:subject>
  <dc:creator>Pharmaceutical Sciences</dc:creator>
  <cp:lastModifiedBy>Pharmaceutical Sciences</cp:lastModifiedBy>
  <cp:revision>1</cp:revision>
  <dcterms:created xsi:type="dcterms:W3CDTF">2026-05-19T10:14:13Z</dcterms:created>
  <dcterms:modified xsi:type="dcterms:W3CDTF">2026-05-19T10:14:13Z</dcterms:modified>
</cp:coreProperties>
</file>